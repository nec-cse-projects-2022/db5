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79" r:id="rId9"/>
    <p:sldId id="280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1" r:id="rId25"/>
    <p:sldId id="282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FAHEEM AHMED" userId="b41d19e88a32237f" providerId="LiveId" clId="{75978B35-132B-4240-BAA4-4DA1BD5A6285}"/>
    <pc:docChg chg="modSld sldOrd">
      <pc:chgData name="SHAIK FAHEEM AHMED" userId="b41d19e88a32237f" providerId="LiveId" clId="{75978B35-132B-4240-BAA4-4DA1BD5A6285}" dt="2026-02-06T04:52:05.547" v="24"/>
      <pc:docMkLst>
        <pc:docMk/>
      </pc:docMkLst>
      <pc:sldChg chg="ord">
        <pc:chgData name="SHAIK FAHEEM AHMED" userId="b41d19e88a32237f" providerId="LiveId" clId="{75978B35-132B-4240-BAA4-4DA1BD5A6285}" dt="2026-02-06T04:52:05.547" v="24"/>
        <pc:sldMkLst>
          <pc:docMk/>
          <pc:sldMk cId="3177525731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2AA88-8CF7-48D0-84C8-F8025BD5B059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26C82-54A3-471D-9E05-4926F243E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6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07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037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3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26C82-54A3-471D-9E05-4926F243E9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E65D-481D-EFD6-5397-EEE8820AE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2306A-8AE6-ACE3-9C6A-2EA3FFDD5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4B2E0-E7AA-B7F0-D131-06A993C6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4F472-E57F-A25F-F150-66AD02C3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33757-8AEA-FC6B-3AEB-DC829F87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76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A690-33BD-8CC7-B353-528DEC091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6DAA8-F60E-613F-2962-75B98E094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8F374-7A41-A7FB-52E2-6C7ED887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7AFAA-CB27-8D76-484B-69EB5569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B8201-E870-4A33-AC46-1241EAC3C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71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7F14-E7DC-2A0C-499E-14C204B8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B44A5-1843-62B8-D296-075A1F941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92532-4669-3DF2-3875-AA5DEC1C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5330D-BBF6-B029-F9BB-0D3A02CB3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D155F-611F-52E2-344D-E0EF36B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86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36F0-1D62-7658-0957-117148B7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D2D94-1199-B8F1-4717-FDB9B79E4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5DCD4-2ED1-95BC-7252-EB4AA98FD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5F9DD8-CA28-5AFC-E8A8-66A25DBC1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C9873-9DA5-B236-ED9A-0424AC97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D9E83-962D-FA41-F0B8-F75B00B2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9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297C6-DD07-5682-B2D9-B34D7072D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245F-5FDD-6F69-13C1-D46541FDD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42405-16ED-5266-06D0-B047EF947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C49DB-C287-D41E-BE0C-04B3D3F3E5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F6BF68-BD8B-DE28-C324-CC984FD88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3BAA6-36AA-18E1-FE9B-43B774BB7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DAB74-ADDD-38C7-5667-11BFC1D2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922A7-8D5C-CFA7-0373-A73800B6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3B52-9278-2825-9739-7E2185D6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3DAF5-DF69-F7B1-66BD-94A094E0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149D2-F47E-A288-E9AB-099268FC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BC427-C51E-8AB1-A7C5-4270E225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7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E567A-2DEE-4359-FF4F-3D16BE34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65C25-DD96-91A1-1565-F58DD14F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364BF-B5D1-9308-769D-46F484FC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0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59BB-9F81-00DA-BE10-4DBB44E08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52879-1D69-517F-4C2C-C046FBBDF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62B17-03BD-7CDC-49C9-4A9BCEDD4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72450-4CF4-7B16-9A41-EAEB12BA0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A1679-E378-394D-9B1B-429F16477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B630-9D3A-DFE2-5FC4-86451D10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4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42D0-B59B-DED5-203A-7DB70812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F2CC38-4C59-7096-6A12-745F43361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9F5F6-266E-60E7-F6B9-D8BA03308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B2636-2C79-545C-5D4F-720F7526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DEF5BA-B40F-C49C-5D14-790EACA12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B6633-4F09-2C1C-263C-04F6E09B6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2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869C-B61E-3CA6-EC51-17873EFE7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81E51-42DC-7911-D6C7-CBADEEFDB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FE589-2EA9-D2A5-784C-BB8EC4D6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A984F-CE2F-5E9E-A3B3-BA2053CE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DFAF-8121-FD16-84A9-3891E412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C7DDA-D8DF-6370-EC40-1CFE2FD03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BD32C-DA03-62A5-955B-BCAC7FA1D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56135-36F5-608F-04F2-DBA1ED01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90E82-ACDA-E690-75E1-A5EA20DE8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8144E-DEC9-533B-9488-E2320DC4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A9A2D4-1CA8-ECC8-32C7-293E5252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F82C7-D772-415D-DAE1-0FA9A007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3A8F0-CEDB-CA6C-6DDC-B3686E151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49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5/12/2025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C69CF-4862-EE73-DC16-DA59068E6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0247" y="6356349"/>
            <a:ext cx="4233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7E15C-1CC7-67CC-5F74-C50F1E2D6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2C8B7-D441-41F7-9F8A-3B05A8FD0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283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ps://ieeexplore.ieee.org/d%20ocument/10902362" TargetMode="External"/><Relationship Id="rId3" Type="http://schemas.openxmlformats.org/officeDocument/2006/relationships/image" Target="../media/image1.png"/><Relationship Id="rId7" Type="http://schemas.openxmlformats.org/officeDocument/2006/relationships/hyperlink" Target="hps://ieeexplore.ieee.org/d%20ocument/1063212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ps://ieeexplore.ieee.org/d%20ocument/9745159" TargetMode="External"/><Relationship Id="rId5" Type="http://schemas.openxmlformats.org/officeDocument/2006/relationships/hyperlink" Target="hps://ieeexplore.ieee.org/d%20ocument/10474013" TargetMode="External"/><Relationship Id="rId4" Type="http://schemas.openxmlformats.org/officeDocument/2006/relationships/hyperlink" Target="hps://ieeexplore.ieee.org/d%20ocument/1027261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74C78683-5508-FBCD-60B9-41D06AA19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3989200" cy="7177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0BF854F-EBA5-B00F-DD25-BD1FE3FF797E}"/>
              </a:ext>
            </a:extLst>
          </p:cNvPr>
          <p:cNvSpPr txBox="1"/>
          <p:nvPr/>
        </p:nvSpPr>
        <p:spPr>
          <a:xfrm>
            <a:off x="2831689" y="816078"/>
            <a:ext cx="7787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E8444-895C-AF5C-81C4-38869A091E71}"/>
              </a:ext>
            </a:extLst>
          </p:cNvPr>
          <p:cNvSpPr txBox="1"/>
          <p:nvPr/>
        </p:nvSpPr>
        <p:spPr>
          <a:xfrm>
            <a:off x="5337463" y="2103688"/>
            <a:ext cx="2185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55C460-8FA0-3281-180E-BC8A7CBD0B54}"/>
              </a:ext>
            </a:extLst>
          </p:cNvPr>
          <p:cNvSpPr txBox="1"/>
          <p:nvPr/>
        </p:nvSpPr>
        <p:spPr>
          <a:xfrm>
            <a:off x="3755446" y="1448156"/>
            <a:ext cx="559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8E780-CFEF-7E08-6C80-5FB60EAFD0EF}"/>
              </a:ext>
            </a:extLst>
          </p:cNvPr>
          <p:cNvSpPr txBox="1"/>
          <p:nvPr/>
        </p:nvSpPr>
        <p:spPr>
          <a:xfrm>
            <a:off x="2936967" y="2451174"/>
            <a:ext cx="2597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RAVULA NANDU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3503E-0226-6D0C-1A22-3B9BA93FA661}"/>
              </a:ext>
            </a:extLst>
          </p:cNvPr>
          <p:cNvSpPr txBox="1"/>
          <p:nvPr/>
        </p:nvSpPr>
        <p:spPr>
          <a:xfrm>
            <a:off x="7434692" y="2452730"/>
            <a:ext cx="170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23475A0521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38405-F5F0-D3A5-20A6-59486F1C3E19}"/>
              </a:ext>
            </a:extLst>
          </p:cNvPr>
          <p:cNvSpPr txBox="1"/>
          <p:nvPr/>
        </p:nvSpPr>
        <p:spPr>
          <a:xfrm>
            <a:off x="3168317" y="2826207"/>
            <a:ext cx="28417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KOTA DAVID SHALEM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3D00B-74A1-557F-D692-F5A6862FA869}"/>
              </a:ext>
            </a:extLst>
          </p:cNvPr>
          <p:cNvSpPr txBox="1"/>
          <p:nvPr/>
        </p:nvSpPr>
        <p:spPr>
          <a:xfrm>
            <a:off x="7434692" y="2823743"/>
            <a:ext cx="1704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23475A0506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A475E6-90EC-A2AE-7FE7-02CFE40CA82C}"/>
              </a:ext>
            </a:extLst>
          </p:cNvPr>
          <p:cNvSpPr txBox="1"/>
          <p:nvPr/>
        </p:nvSpPr>
        <p:spPr>
          <a:xfrm>
            <a:off x="3168317" y="3202563"/>
            <a:ext cx="3064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FAHEEM AHMED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B48A7-63AB-283A-BBD5-D66C935C769D}"/>
              </a:ext>
            </a:extLst>
          </p:cNvPr>
          <p:cNvSpPr txBox="1"/>
          <p:nvPr/>
        </p:nvSpPr>
        <p:spPr>
          <a:xfrm>
            <a:off x="7434692" y="3166221"/>
            <a:ext cx="1827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22471A05N9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CBFC84-FF9C-9712-6BF1-CD72E33FD835}"/>
              </a:ext>
            </a:extLst>
          </p:cNvPr>
          <p:cNvSpPr txBox="1"/>
          <p:nvPr/>
        </p:nvSpPr>
        <p:spPr>
          <a:xfrm>
            <a:off x="4898185" y="3660673"/>
            <a:ext cx="3064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A18A4-5EB8-3848-3ECB-DF30414F64A3}"/>
              </a:ext>
            </a:extLst>
          </p:cNvPr>
          <p:cNvSpPr txBox="1"/>
          <p:nvPr/>
        </p:nvSpPr>
        <p:spPr>
          <a:xfrm>
            <a:off x="4589190" y="4180338"/>
            <a:ext cx="4048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K.V. NARASIMHA REDDY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2DA3F1-976D-573B-AD65-0F22733102A1}"/>
              </a:ext>
            </a:extLst>
          </p:cNvPr>
          <p:cNvSpPr txBox="1"/>
          <p:nvPr/>
        </p:nvSpPr>
        <p:spPr>
          <a:xfrm>
            <a:off x="8370731" y="4411170"/>
            <a:ext cx="788844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M.Tech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E2CE0-50A3-D1D3-0C73-0756E648893C}"/>
              </a:ext>
            </a:extLst>
          </p:cNvPr>
          <p:cNvSpPr txBox="1"/>
          <p:nvPr/>
        </p:nvSpPr>
        <p:spPr>
          <a:xfrm>
            <a:off x="5337463" y="4738254"/>
            <a:ext cx="2337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E2B848-DCDB-D416-AED4-8286FB7B4314}"/>
              </a:ext>
            </a:extLst>
          </p:cNvPr>
          <p:cNvSpPr txBox="1"/>
          <p:nvPr/>
        </p:nvSpPr>
        <p:spPr>
          <a:xfrm>
            <a:off x="4196788" y="5117074"/>
            <a:ext cx="5331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Engineering,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240234-6EB3-0F1C-E22B-993C8A6576E2}"/>
              </a:ext>
            </a:extLst>
          </p:cNvPr>
          <p:cNvSpPr txBox="1"/>
          <p:nvPr/>
        </p:nvSpPr>
        <p:spPr>
          <a:xfrm>
            <a:off x="4301834" y="5546751"/>
            <a:ext cx="538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Narasaraopeta Engineering College (Autonomous),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BE3DD-7E26-F26A-5F50-57605E969C97}"/>
              </a:ext>
            </a:extLst>
          </p:cNvPr>
          <p:cNvSpPr txBox="1"/>
          <p:nvPr/>
        </p:nvSpPr>
        <p:spPr>
          <a:xfrm>
            <a:off x="5281167" y="5971738"/>
            <a:ext cx="313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Narasaraopet- 522 601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C2418B4D-72AE-BB50-6D33-C7C2AFE6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  <a:endParaRPr lang="en-US" dirty="0"/>
          </a:p>
        </p:txBody>
      </p: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8954BBBF-F860-18F4-889F-9E4495FD3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32131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305C54D-FDA5-ACA3-D5D0-F89A19B6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2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384C9E75-88A7-093E-5F8C-7E55C85F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E643FE-E86A-48C0-E629-58D2F655C88B}"/>
              </a:ext>
            </a:extLst>
          </p:cNvPr>
          <p:cNvSpPr txBox="1"/>
          <p:nvPr/>
        </p:nvSpPr>
        <p:spPr>
          <a:xfrm>
            <a:off x="5056909" y="717754"/>
            <a:ext cx="2078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32253A-0E4F-F82B-2129-840F46E44552}"/>
              </a:ext>
            </a:extLst>
          </p:cNvPr>
          <p:cNvSpPr txBox="1"/>
          <p:nvPr/>
        </p:nvSpPr>
        <p:spPr>
          <a:xfrm>
            <a:off x="457199" y="1475509"/>
            <a:ext cx="421178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Abstract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Introduction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Literature Survey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Research Gaps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Problem Statement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Objectives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Block Diagram / Flow Diagram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Methodology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Implementation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Results and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&amp;Future 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References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Question and Answers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Acknowledgements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302F32C-7186-2A64-3AD6-89086EA4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5950FAE-28D6-49FF-6B35-5A332B7B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DE92F8-24AA-31F1-1618-9E73FC14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64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57299E7-BBE0-1F67-51FD-56D1FE9D2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D3694-7B4A-CEBF-2965-BC8D528CE8AB}"/>
              </a:ext>
            </a:extLst>
          </p:cNvPr>
          <p:cNvSpPr txBox="1"/>
          <p:nvPr/>
        </p:nvSpPr>
        <p:spPr>
          <a:xfrm>
            <a:off x="5025736" y="718535"/>
            <a:ext cx="214052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06548-A70B-8F54-A983-1815938D7E48}"/>
              </a:ext>
            </a:extLst>
          </p:cNvPr>
          <p:cNvSpPr txBox="1"/>
          <p:nvPr/>
        </p:nvSpPr>
        <p:spPr>
          <a:xfrm>
            <a:off x="596417" y="1179418"/>
            <a:ext cx="36264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of the project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550166-DEB3-7D87-250A-2BA8AAD06E0D}"/>
              </a:ext>
            </a:extLst>
          </p:cNvPr>
          <p:cNvSpPr txBox="1"/>
          <p:nvPr/>
        </p:nvSpPr>
        <p:spPr>
          <a:xfrm>
            <a:off x="1361098" y="1718418"/>
            <a:ext cx="993393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era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generating concise yet meaningful summaries from lengthy texts has become crucial across diverse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domains.The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 abstractive text summarization framework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handle varying document sizes and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complexities.It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selects among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 models, each fine-tuned on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BBC News Summary dataset subset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generate fluent and context-aware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summaries.Evaluation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demonstrates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produces the most concise outputs,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retains contextual depth,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strong general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adaptability.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bridges the gap between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deployment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delivering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summarization solution.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634DD542-4E01-75E9-F03E-38BA8B6D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1DAC419-94A2-CC34-A757-0219D108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11782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5BA1CC1-6777-0367-AB55-FD3A3973E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35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267BCB5-6CC8-0C61-5F63-B4B618381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4BA864-53C8-D107-AC03-23BCDBD81664}"/>
              </a:ext>
            </a:extLst>
          </p:cNvPr>
          <p:cNvSpPr txBox="1"/>
          <p:nvPr/>
        </p:nvSpPr>
        <p:spPr>
          <a:xfrm>
            <a:off x="4655128" y="718535"/>
            <a:ext cx="313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FFC04B-B41D-1DF8-1A06-CB033CC4CAD8}"/>
              </a:ext>
            </a:extLst>
          </p:cNvPr>
          <p:cNvSpPr txBox="1"/>
          <p:nvPr/>
        </p:nvSpPr>
        <p:spPr>
          <a:xfrm>
            <a:off x="768926" y="1358976"/>
            <a:ext cx="4468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to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EE39B-402F-BEA2-E3F8-48896ABBDBEB}"/>
              </a:ext>
            </a:extLst>
          </p:cNvPr>
          <p:cNvSpPr txBox="1"/>
          <p:nvPr/>
        </p:nvSpPr>
        <p:spPr>
          <a:xfrm>
            <a:off x="1839191" y="1780171"/>
            <a:ext cx="91232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developing an abstractive text summarization framework using pre-trained transformer models like BART, PEGASUS, and T5.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aims to generate concise, human-like summaries from lengthy documents while preserving semantic meaning and narrative coherence.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introduces a dynamic, length-sensitive model selection pipeline, ensuring that each input text is processed by the most suitable summarization model.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05231668-3AB9-FD0C-1B1E-8D211063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12F140-2A4E-8428-1211-A4E50107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AE4DD1F-65C0-336E-BABF-3779197A4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75CBA-7DE8-8054-9482-4EA64101D40D}"/>
              </a:ext>
            </a:extLst>
          </p:cNvPr>
          <p:cNvSpPr txBox="1"/>
          <p:nvPr/>
        </p:nvSpPr>
        <p:spPr>
          <a:xfrm>
            <a:off x="768926" y="4278857"/>
            <a:ext cx="4253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Behind the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58AA36-499B-45B3-602B-4BC63C8A46EF}"/>
              </a:ext>
            </a:extLst>
          </p:cNvPr>
          <p:cNvSpPr txBox="1"/>
          <p:nvPr/>
        </p:nvSpPr>
        <p:spPr>
          <a:xfrm>
            <a:off x="1839191" y="4852693"/>
            <a:ext cx="8936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explosion in digital media has created a strong need for automatic tools that can deliver quick and coherent summaries.</a:t>
            </a:r>
          </a:p>
        </p:txBody>
      </p:sp>
    </p:spTree>
    <p:extLst>
      <p:ext uri="{BB962C8B-B14F-4D97-AF65-F5344CB8AC3E}">
        <p14:creationId xmlns:p14="http://schemas.microsoft.com/office/powerpoint/2010/main" val="336774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F5C55-3EBD-F1A0-9B6C-0950E9F78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87524-9955-B970-815E-202F9B7D6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4AB52-F35E-39D6-A52E-B7AE2401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63ADC2-15A7-9787-56AF-A6E51D174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872622-9321-5132-F967-593E43EB40F6}"/>
              </a:ext>
            </a:extLst>
          </p:cNvPr>
          <p:cNvSpPr txBox="1"/>
          <p:nvPr/>
        </p:nvSpPr>
        <p:spPr>
          <a:xfrm>
            <a:off x="1341350" y="1262123"/>
            <a:ext cx="98616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extractive approaches often fail to capture contextual depth and linguistic fluency, leading to fragmented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Advanced transformer-based architectures provide an opportunity to overcome these limitations through context-aware and fluent abstraction.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515E6F-65BB-6406-21B7-360BA24AC9D3}"/>
              </a:ext>
            </a:extLst>
          </p:cNvPr>
          <p:cNvSpPr txBox="1"/>
          <p:nvPr/>
        </p:nvSpPr>
        <p:spPr>
          <a:xfrm>
            <a:off x="745602" y="2844697"/>
            <a:ext cx="46713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and Relevance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23491-FA69-E73F-9630-5C7F4C3C1506}"/>
              </a:ext>
            </a:extLst>
          </p:cNvPr>
          <p:cNvSpPr txBox="1"/>
          <p:nvPr/>
        </p:nvSpPr>
        <p:spPr>
          <a:xfrm>
            <a:off x="1341350" y="3516855"/>
            <a:ext cx="93291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supports efficient content condensation across domains like news, healthcare, education, and legal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both semantic fidelity and readability, making it suitable for real-world applications requiring accuracy and coherence.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multiple models in a single pipeline, the system achieves balanced trade-offs between brevity, fluency, and factual consistency.</a:t>
            </a:r>
          </a:p>
        </p:txBody>
      </p:sp>
    </p:spTree>
    <p:extLst>
      <p:ext uri="{BB962C8B-B14F-4D97-AF65-F5344CB8AC3E}">
        <p14:creationId xmlns:p14="http://schemas.microsoft.com/office/powerpoint/2010/main" val="3913603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CA5E011-55F0-1D75-F4EE-15691D050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B102E-02D4-12C7-EFC6-491EE6F88A20}"/>
              </a:ext>
            </a:extLst>
          </p:cNvPr>
          <p:cNvSpPr txBox="1"/>
          <p:nvPr/>
        </p:nvSpPr>
        <p:spPr>
          <a:xfrm>
            <a:off x="3989200" y="387586"/>
            <a:ext cx="41251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FC146-6679-822C-7DA6-5F6020E22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619680"/>
              </p:ext>
            </p:extLst>
          </p:nvPr>
        </p:nvGraphicFramePr>
        <p:xfrm>
          <a:off x="167092" y="657310"/>
          <a:ext cx="11523520" cy="5486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292">
                  <a:extLst>
                    <a:ext uri="{9D8B030D-6E8A-4147-A177-3AD203B41FA5}">
                      <a16:colId xmlns:a16="http://schemas.microsoft.com/office/drawing/2014/main" val="4198733524"/>
                    </a:ext>
                  </a:extLst>
                </a:gridCol>
                <a:gridCol w="1839720">
                  <a:extLst>
                    <a:ext uri="{9D8B030D-6E8A-4147-A177-3AD203B41FA5}">
                      <a16:colId xmlns:a16="http://schemas.microsoft.com/office/drawing/2014/main" val="1541954154"/>
                    </a:ext>
                  </a:extLst>
                </a:gridCol>
                <a:gridCol w="1809395">
                  <a:extLst>
                    <a:ext uri="{9D8B030D-6E8A-4147-A177-3AD203B41FA5}">
                      <a16:colId xmlns:a16="http://schemas.microsoft.com/office/drawing/2014/main" val="2331070903"/>
                    </a:ext>
                  </a:extLst>
                </a:gridCol>
                <a:gridCol w="2056921">
                  <a:extLst>
                    <a:ext uri="{9D8B030D-6E8A-4147-A177-3AD203B41FA5}">
                      <a16:colId xmlns:a16="http://schemas.microsoft.com/office/drawing/2014/main" val="2789329345"/>
                    </a:ext>
                  </a:extLst>
                </a:gridCol>
                <a:gridCol w="1855717">
                  <a:extLst>
                    <a:ext uri="{9D8B030D-6E8A-4147-A177-3AD203B41FA5}">
                      <a16:colId xmlns:a16="http://schemas.microsoft.com/office/drawing/2014/main" val="482863234"/>
                    </a:ext>
                  </a:extLst>
                </a:gridCol>
                <a:gridCol w="1465005">
                  <a:extLst>
                    <a:ext uri="{9D8B030D-6E8A-4147-A177-3AD203B41FA5}">
                      <a16:colId xmlns:a16="http://schemas.microsoft.com/office/drawing/2014/main" val="2789447342"/>
                    </a:ext>
                  </a:extLst>
                </a:gridCol>
                <a:gridCol w="1536470">
                  <a:extLst>
                    <a:ext uri="{9D8B030D-6E8A-4147-A177-3AD203B41FA5}">
                      <a16:colId xmlns:a16="http://schemas.microsoft.com/office/drawing/2014/main" val="1554649309"/>
                    </a:ext>
                  </a:extLst>
                </a:gridCol>
              </a:tblGrid>
              <a:tr h="66451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Adapted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127632"/>
                  </a:ext>
                </a:extLst>
              </a:tr>
              <a:tr h="131692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Exploring the Landscape of Automatic Text Summarizaon: A Comprehensive Survey</a:t>
                      </a:r>
                      <a:endParaRPr lang="en-US" sz="1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Bilal Khan, Zohaib Ali Shah, Muhammad Usman, Inayat Khan, Badam Niazi, 2023, IEEE Access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hps://ieeexplore.ieee.org/d ocument/10272614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Mostly reviewed models: BERT, T5, Pegasus, etc.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trends and models in ATS including benchmarks and challenges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language diversity in datasets and models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360573"/>
                  </a:ext>
                </a:extLst>
              </a:tr>
              <a:tr h="90721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Abstracve Text Summarizaon for the Urdu Language: Data and Methods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Muhammad Adnan Khan, Munir Ahmad, et al., 2025, IEEE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hps://ieeexplore.ieee.org/d ocument/10474013 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LSTM, Seq2Seq, Transformer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 dataset creaon and summarization for Urdu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Scarcity of high-quality Urdu datasets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58239"/>
                  </a:ext>
                </a:extLst>
              </a:tr>
              <a:tr h="111207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Comprehensive Review of Arabic Text Summarizaon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Asmaa Elsaid, Ammar Mohammed, Lamiaa Faouh, Mohamed Sakre, 2022, IEEE Access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hps://ieeexplore.ieee.org/d ocument/9745159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models, Neural Abstracve Models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Arabic-specific summarizaon methods and tool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discussion on real-world deployment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057868"/>
                  </a:ext>
                </a:extLst>
              </a:tr>
              <a:tr h="6737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MSG‑ATS: Mul‑level Semanc Graph for Arabic Text Summarizaon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Mustafa Abdul Salam;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hps://ieeexplore.ieee.org/d ocument/10632127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Mul-level semanc graph extracve mode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Better semantic capture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English tesng; no abstracve models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85403"/>
                  </a:ext>
                </a:extLst>
              </a:tr>
              <a:tr h="673745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Summarizaon of Italian Tax‑Law Decisions: The Case of the PRODIGIT 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Federico Pisanò; 2023, IEEE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8"/>
                        </a:rPr>
                        <a:t>hps://ieeexplore.ieee.org/d ocument/10902362 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Extractive rule based</a:t>
                      </a:r>
                    </a:p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summarisation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 for summarizing Italian Laws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Domain-specific focus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86259"/>
                  </a:ext>
                </a:extLst>
              </a:tr>
            </a:tbl>
          </a:graphicData>
        </a:graphic>
      </p:graphicFrame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0705DCB-9783-6556-5F97-3C68793B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40FDF3D-8380-2CB9-3533-C070F1B9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32564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F9B45BD-CE04-3B3E-9B60-D7A4C86C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4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5FFB3E2B-4E9D-9BA0-E82A-CEEAB12E2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93872E-D781-356F-CC37-1E0C3EDB3B7B}"/>
              </a:ext>
            </a:extLst>
          </p:cNvPr>
          <p:cNvSpPr txBox="1"/>
          <p:nvPr/>
        </p:nvSpPr>
        <p:spPr>
          <a:xfrm>
            <a:off x="3989200" y="717754"/>
            <a:ext cx="4187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F63B3D6-06E8-66D0-E306-FA20774C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45940D7-E3EC-25BC-4D50-F770E8D1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87537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1CBD06-C844-0097-537F-47763A7B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B3DC3E-D669-EA0F-9F3D-7C9030F3CB1A}"/>
              </a:ext>
            </a:extLst>
          </p:cNvPr>
          <p:cNvSpPr txBox="1"/>
          <p:nvPr/>
        </p:nvSpPr>
        <p:spPr>
          <a:xfrm>
            <a:off x="838200" y="1297008"/>
            <a:ext cx="4949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papers related to our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ADD7-6A06-5521-1CEC-4439271E2EFA}"/>
              </a:ext>
            </a:extLst>
          </p:cNvPr>
          <p:cNvSpPr txBox="1"/>
          <p:nvPr/>
        </p:nvSpPr>
        <p:spPr>
          <a:xfrm>
            <a:off x="1447307" y="1914785"/>
            <a:ext cx="927132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Azam &amp; F. Ahmed, “Extractive Summarization Using Enhanced Graph Models.”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Salam, R. Alfarraj &amp; M. Alweshah, “MS-GATS: Multi-Sentence Graph Attention Network for Arabic Summarization”.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Khan et al., “Survey of Abstractive Summarization Using Transformers.”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Naik et al., “EffSum: Efficient Transformer Summarization for Indian News.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Awais &amp; R. M. A. Nawab, “Abstractive Urdu Summarization Using LSTM-Transformer Hybrid.”</a:t>
            </a:r>
          </a:p>
        </p:txBody>
      </p:sp>
    </p:spTree>
    <p:extLst>
      <p:ext uri="{BB962C8B-B14F-4D97-AF65-F5344CB8AC3E}">
        <p14:creationId xmlns:p14="http://schemas.microsoft.com/office/powerpoint/2010/main" val="2117468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75757-AEE0-7E60-038E-EA1417FB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67D7B-78C1-A7B0-1D94-F9E2C756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E63B7-07D3-DB93-6185-D720849A3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A close up of a logo&#10;&#10;AI-generated content may be incorrect.">
            <a:extLst>
              <a:ext uri="{FF2B5EF4-FFF2-40B4-BE49-F238E27FC236}">
                <a16:creationId xmlns:a16="http://schemas.microsoft.com/office/drawing/2014/main" id="{0C855005-B476-0A60-5F64-0198D2F85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C11247-853A-BECC-6B67-83E7A01BB78D}"/>
              </a:ext>
            </a:extLst>
          </p:cNvPr>
          <p:cNvSpPr txBox="1"/>
          <p:nvPr/>
        </p:nvSpPr>
        <p:spPr>
          <a:xfrm>
            <a:off x="983848" y="938272"/>
            <a:ext cx="4664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Summaries of relevant literature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CF147-920E-2D14-E1B7-B5EA3478E197}"/>
              </a:ext>
            </a:extLst>
          </p:cNvPr>
          <p:cNvSpPr txBox="1"/>
          <p:nvPr/>
        </p:nvSpPr>
        <p:spPr>
          <a:xfrm>
            <a:off x="1207626" y="1840375"/>
            <a:ext cx="97767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Azam &amp; Ahmed  — Graph-based extractive methods that improve sentence importance via enhanced centrality scores; good at coverage but weak on abstraction.</a:t>
            </a: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MS-GATS  — Graph attention over multi-sentence units for Arabic news; shows benefits of structural context for extractive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survey [5] — Comprehensive review of BART, PEGASUS, T5 and related encoder-decoder models; highlights pretraining choices and their effect on abstractive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EffSum [8] — Focuses on efficiency and latency in transformer summarizers for news; demonstrates tradeoffs between speed and ROUGE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LSTM-Transformer hybrid [6] — Addresses low-resource language summarization by combining recurrent and attention modules for improved coherence.</a:t>
            </a:r>
          </a:p>
        </p:txBody>
      </p:sp>
    </p:spTree>
    <p:extLst>
      <p:ext uri="{BB962C8B-B14F-4D97-AF65-F5344CB8AC3E}">
        <p14:creationId xmlns:p14="http://schemas.microsoft.com/office/powerpoint/2010/main" val="3657158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FA0D91-4FD6-399C-F073-A1CDB72B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925590-3E76-6884-6755-96F7D518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6463C-003F-9529-720E-6144F5786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0E5B72-F091-BF5D-5731-70B3E4957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90975" cy="714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511CE-481A-9507-36DF-2490D5A12375}"/>
              </a:ext>
            </a:extLst>
          </p:cNvPr>
          <p:cNvSpPr txBox="1"/>
          <p:nvPr/>
        </p:nvSpPr>
        <p:spPr>
          <a:xfrm>
            <a:off x="838200" y="902825"/>
            <a:ext cx="5393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relation to our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ADA18-3B71-AB00-AEDA-437CCD5C6E05}"/>
              </a:ext>
            </a:extLst>
          </p:cNvPr>
          <p:cNvSpPr txBox="1"/>
          <p:nvPr/>
        </p:nvSpPr>
        <p:spPr>
          <a:xfrm>
            <a:off x="1092842" y="1569718"/>
            <a:ext cx="10515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Graph and feature-scoring methods  confirm that structured extractive signals improve content coverage — we leverage this insight by treating extractive cues implicitly via model routing and preprocessing.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Transformer-focused surveys and analyses  validate that model pretraining and architecture (BART, PEGASUS, T5) crucially affect fluency and factuality — this motivates our multi-model pipeline.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Efficiency studies like EffSum  show latency vs. quality tradeoffs, supporting our length-sensitive routing to balance speed and fidelity.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Hybrid LSTM-Transformer approaches  and multi-modal findings indicate combining model types or modalities can improve coherence—this backs our ensemble/selection strategy across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 and domain studies  emphasize domain adaptation and feature fusion; we mirror this by stratified fine-tuning and preprocessing tailored to article length and complexity.</a:t>
            </a:r>
          </a:p>
        </p:txBody>
      </p:sp>
    </p:spTree>
    <p:extLst>
      <p:ext uri="{BB962C8B-B14F-4D97-AF65-F5344CB8AC3E}">
        <p14:creationId xmlns:p14="http://schemas.microsoft.com/office/powerpoint/2010/main" val="2896033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AI-generated content may be incorrect.">
            <a:extLst>
              <a:ext uri="{FF2B5EF4-FFF2-40B4-BE49-F238E27FC236}">
                <a16:creationId xmlns:a16="http://schemas.microsoft.com/office/drawing/2014/main" id="{FC58EB6D-A5A0-6E23-DCA6-46EBE7A07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EC3593-DAC2-E52A-0BE4-84F4C1CB9625}"/>
              </a:ext>
            </a:extLst>
          </p:cNvPr>
          <p:cNvSpPr txBox="1"/>
          <p:nvPr/>
        </p:nvSpPr>
        <p:spPr>
          <a:xfrm>
            <a:off x="4125191" y="717754"/>
            <a:ext cx="32211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905035-F6D3-6861-2AEC-4E202B6FE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9181048-CCC4-B9B5-6F1D-41E6E2793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32564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C93BF0-CFB4-F518-D235-484902E9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780803-9CB3-520A-789E-4EA191DADDB7}"/>
              </a:ext>
            </a:extLst>
          </p:cNvPr>
          <p:cNvSpPr txBox="1"/>
          <p:nvPr/>
        </p:nvSpPr>
        <p:spPr>
          <a:xfrm>
            <a:off x="960699" y="1574157"/>
            <a:ext cx="102898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Many prior works focus on either extractive or single-model abstractive approaches rather than a dynamic multi-model routing strategy.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emphasize either fluency (lexical overlap) or semantic fidelity, but few implement an input-aware system that routes by length/complexity.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real-time inference are underexplored; efficient summarizers trade accuracy for speed without adaptive selection.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Hybrid extractive→abstractive integration is limited; few systems systematically combine extractive cues with multiple abstractive backbones.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and long-context handling remain challenging (token limits and truncation); dynamic model selection and long-context models are needed.</a:t>
            </a:r>
          </a:p>
        </p:txBody>
      </p:sp>
    </p:spTree>
    <p:extLst>
      <p:ext uri="{BB962C8B-B14F-4D97-AF65-F5344CB8AC3E}">
        <p14:creationId xmlns:p14="http://schemas.microsoft.com/office/powerpoint/2010/main" val="695913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7CB96F4B-CE97-DEFE-C282-82E905DA14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F5088D-0577-DC8F-2B1F-5ED1622703A2}"/>
              </a:ext>
            </a:extLst>
          </p:cNvPr>
          <p:cNvSpPr txBox="1"/>
          <p:nvPr/>
        </p:nvSpPr>
        <p:spPr>
          <a:xfrm>
            <a:off x="3924300" y="717754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B25DB-083C-1274-4B11-1CAA06FE9B25}"/>
              </a:ext>
            </a:extLst>
          </p:cNvPr>
          <p:cNvSpPr txBox="1"/>
          <p:nvPr/>
        </p:nvSpPr>
        <p:spPr>
          <a:xfrm>
            <a:off x="675407" y="1174211"/>
            <a:ext cx="3522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58623-0B93-5802-0E18-E719EB4AC903}"/>
              </a:ext>
            </a:extLst>
          </p:cNvPr>
          <p:cNvSpPr txBox="1"/>
          <p:nvPr/>
        </p:nvSpPr>
        <p:spPr>
          <a:xfrm>
            <a:off x="1589809" y="1858569"/>
            <a:ext cx="955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rapid increase of online textual data makes it challenging to extract key insights efficiently.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AF1C0-CBA1-3201-92D8-14087357BB73}"/>
              </a:ext>
            </a:extLst>
          </p:cNvPr>
          <p:cNvSpPr txBox="1"/>
          <p:nvPr/>
        </p:nvSpPr>
        <p:spPr>
          <a:xfrm>
            <a:off x="1589809" y="2227901"/>
            <a:ext cx="9455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extractive summarization models fail to maintain semantic meaning and contextual flow.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D34F5-9614-7B7A-F757-FA8C5AA1E785}"/>
              </a:ext>
            </a:extLst>
          </p:cNvPr>
          <p:cNvSpPr txBox="1"/>
          <p:nvPr/>
        </p:nvSpPr>
        <p:spPr>
          <a:xfrm>
            <a:off x="1589809" y="2643399"/>
            <a:ext cx="9964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a unified system that dynamically adapts summarization methods based on input text length and complexity.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362F5-6A62-CC43-D4AD-E764D71BB2A9}"/>
              </a:ext>
            </a:extLst>
          </p:cNvPr>
          <p:cNvSpPr txBox="1"/>
          <p:nvPr/>
        </p:nvSpPr>
        <p:spPr>
          <a:xfrm>
            <a:off x="675407" y="3655763"/>
            <a:ext cx="379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1FAE7-02F9-FF92-3682-91D18E53357F}"/>
              </a:ext>
            </a:extLst>
          </p:cNvPr>
          <p:cNvSpPr txBox="1"/>
          <p:nvPr/>
        </p:nvSpPr>
        <p:spPr>
          <a:xfrm>
            <a:off x="1589809" y="4186546"/>
            <a:ext cx="9964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access concise, meaningful summaries from large text sources quickly and accurately.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AC19E-F9D0-9CFB-49BE-0D6350B74212}"/>
              </a:ext>
            </a:extLst>
          </p:cNvPr>
          <p:cNvSpPr txBox="1"/>
          <p:nvPr/>
        </p:nvSpPr>
        <p:spPr>
          <a:xfrm>
            <a:off x="1589808" y="4633217"/>
            <a:ext cx="10224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information retrieval and comprehension across domains such as news, research, and education.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691E0A-C91A-547B-4327-B9F3FA7E996C}"/>
              </a:ext>
            </a:extLst>
          </p:cNvPr>
          <p:cNvSpPr txBox="1"/>
          <p:nvPr/>
        </p:nvSpPr>
        <p:spPr>
          <a:xfrm>
            <a:off x="1589808" y="5052847"/>
            <a:ext cx="899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users to select multiple models and generate the summaries.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B154B21-B248-3900-60C1-86F9E6FE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88A614ED-0D2C-CB90-A300-6DC18E27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26082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F494F60-1B88-C0AA-CD14-20F681BC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F25B692-0658-3B85-67C9-130BD543C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CBB557-9C17-74D6-AA80-7A8212067B92}"/>
              </a:ext>
            </a:extLst>
          </p:cNvPr>
          <p:cNvSpPr txBox="1"/>
          <p:nvPr/>
        </p:nvSpPr>
        <p:spPr>
          <a:xfrm>
            <a:off x="4665519" y="774261"/>
            <a:ext cx="2670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701FA-2850-45A3-602A-6B2655A9C6C1}"/>
              </a:ext>
            </a:extLst>
          </p:cNvPr>
          <p:cNvSpPr txBox="1"/>
          <p:nvPr/>
        </p:nvSpPr>
        <p:spPr>
          <a:xfrm>
            <a:off x="1070265" y="1645191"/>
            <a:ext cx="10110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length-sensitive abstractive text summarization model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transformer architectures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BART, PEGASUS, and T5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D42B6-7D60-61BA-3046-E8EC4F6C993C}"/>
              </a:ext>
            </a:extLst>
          </p:cNvPr>
          <p:cNvSpPr txBox="1"/>
          <p:nvPr/>
        </p:nvSpPr>
        <p:spPr>
          <a:xfrm>
            <a:off x="1070264" y="2624894"/>
            <a:ext cx="97570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dynamically select the most suitable model based on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document’s size and complexity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DFEFD-5D92-6827-350B-841FE2118D24}"/>
              </a:ext>
            </a:extLst>
          </p:cNvPr>
          <p:cNvSpPr txBox="1"/>
          <p:nvPr/>
        </p:nvSpPr>
        <p:spPr>
          <a:xfrm>
            <a:off x="1070264" y="3620569"/>
            <a:ext cx="99752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summarization quality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lexical and semantic accuracy.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747EA0-358D-0F57-0DF0-64896D487514}"/>
              </a:ext>
            </a:extLst>
          </p:cNvPr>
          <p:cNvSpPr txBox="1"/>
          <p:nvPr/>
        </p:nvSpPr>
        <p:spPr>
          <a:xfrm>
            <a:off x="1070264" y="4504924"/>
            <a:ext cx="10110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adaptable for real-world domains like news, research, and education.</a:t>
            </a:r>
          </a:p>
          <a:p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E2F39C0A-EAD9-698E-FC5E-DDF9A2FB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D446DA0-B457-D843-9DD3-8C2235E0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0AAF11-B120-57A6-1FB6-1A20F3CB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20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5607281-FC12-E0DA-8137-521C4196B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A851F9-74A8-F7DE-4931-26F9586F8715}"/>
              </a:ext>
            </a:extLst>
          </p:cNvPr>
          <p:cNvSpPr txBox="1"/>
          <p:nvPr/>
        </p:nvSpPr>
        <p:spPr>
          <a:xfrm>
            <a:off x="2495550" y="717754"/>
            <a:ext cx="720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pic>
        <p:nvPicPr>
          <p:cNvPr id="5" name="Picture 4" descr="A diagram of a system&#10;&#10;AI-generated content may be incorrect.">
            <a:extLst>
              <a:ext uri="{FF2B5EF4-FFF2-40B4-BE49-F238E27FC236}">
                <a16:creationId xmlns:a16="http://schemas.microsoft.com/office/drawing/2014/main" id="{D4F48EF6-D924-F846-6D78-6EE4DB905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235" y="1435508"/>
            <a:ext cx="4804064" cy="4770974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862E4C1-4AFD-F0B1-B76C-536ADEE8D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1C7CEC3-1EFD-BA06-3E77-12F0C7E5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C66FC3-E827-66F6-ADD9-EC29EBD3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09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44E3E0F-422B-32D6-D33D-BEEC57D6F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7A43ED-B860-C9B9-E429-99CD704EB9F1}"/>
              </a:ext>
            </a:extLst>
          </p:cNvPr>
          <p:cNvSpPr txBox="1"/>
          <p:nvPr/>
        </p:nvSpPr>
        <p:spPr>
          <a:xfrm>
            <a:off x="4255077" y="704643"/>
            <a:ext cx="316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97C9E-644D-41B3-78EF-5ED44B272335}"/>
              </a:ext>
            </a:extLst>
          </p:cNvPr>
          <p:cNvSpPr txBox="1"/>
          <p:nvPr/>
        </p:nvSpPr>
        <p:spPr>
          <a:xfrm>
            <a:off x="498764" y="1622718"/>
            <a:ext cx="11367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routing summarization framework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select the most suitable model —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BART, PEGASUS, or 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based on article length and structure.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EF2BD-6E46-0FE5-B624-E7354C254D64}"/>
              </a:ext>
            </a:extLst>
          </p:cNvPr>
          <p:cNvSpPr txBox="1"/>
          <p:nvPr/>
        </p:nvSpPr>
        <p:spPr>
          <a:xfrm>
            <a:off x="498764" y="2602348"/>
            <a:ext cx="11263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stratified BBC News Summary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450 articles divided into short, medium, and long categories.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BD5AE-47AF-83DC-8A04-EA1232B9B9E0}"/>
              </a:ext>
            </a:extLst>
          </p:cNvPr>
          <p:cNvSpPr txBox="1"/>
          <p:nvPr/>
        </p:nvSpPr>
        <p:spPr>
          <a:xfrm>
            <a:off x="498764" y="3584863"/>
            <a:ext cx="10681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lowercasing, tokenization, and removal of HTML tags, emojis, currency symbols, and extra spaces for data uniformity.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51E5F-68B5-9714-F3EA-150E2691013C}"/>
              </a:ext>
            </a:extLst>
          </p:cNvPr>
          <p:cNvSpPr txBox="1"/>
          <p:nvPr/>
        </p:nvSpPr>
        <p:spPr>
          <a:xfrm>
            <a:off x="498764" y="4561609"/>
            <a:ext cx="1079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is fine-tuned using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 library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efficient GPU-based execution in Google Colab.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1D8D4-38F6-562C-B21F-2AAA7CDB8591}"/>
              </a:ext>
            </a:extLst>
          </p:cNvPr>
          <p:cNvSpPr txBox="1"/>
          <p:nvPr/>
        </p:nvSpPr>
        <p:spPr>
          <a:xfrm>
            <a:off x="498764" y="5538355"/>
            <a:ext cx="10328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ROUGE (lexical) and BERT Score (semantic) used to assess summary quality and coherence.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C875EA4-5111-BDFC-CF5A-0E8E0D7B40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886BF18-ED45-097D-C41E-0A1B0C4B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538"/>
            <a:ext cx="4222173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C5E4F43-383D-D35E-85AA-098FDB06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44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730BCE6-61E5-A0F1-8B65-12323D6A7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B9516-10AB-90F6-316D-4CA5AEA1336E}"/>
              </a:ext>
            </a:extLst>
          </p:cNvPr>
          <p:cNvSpPr txBox="1"/>
          <p:nvPr/>
        </p:nvSpPr>
        <p:spPr>
          <a:xfrm>
            <a:off x="446809" y="986118"/>
            <a:ext cx="5870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Frameworks, Algorithms, and Tools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B1D21-64C6-9FB9-C747-C3ABFE89FC02}"/>
              </a:ext>
            </a:extLst>
          </p:cNvPr>
          <p:cNvSpPr txBox="1"/>
          <p:nvPr/>
        </p:nvSpPr>
        <p:spPr>
          <a:xfrm>
            <a:off x="883228" y="1589396"/>
            <a:ext cx="1051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Used: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Transformers, PyTorch, Google Colab (NVIDIA Tesla T4 GPU).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9108D-89B8-3B35-453B-71EE73DB171C}"/>
              </a:ext>
            </a:extLst>
          </p:cNvPr>
          <p:cNvSpPr txBox="1"/>
          <p:nvPr/>
        </p:nvSpPr>
        <p:spPr>
          <a:xfrm>
            <a:off x="883227" y="2322538"/>
            <a:ext cx="1019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Algorithms Implemented: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7A08A-BCEF-44A9-DF27-95E1F5F68148}"/>
              </a:ext>
            </a:extLst>
          </p:cNvPr>
          <p:cNvSpPr txBox="1"/>
          <p:nvPr/>
        </p:nvSpPr>
        <p:spPr>
          <a:xfrm>
            <a:off x="2202875" y="2794071"/>
            <a:ext cx="91959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Sequence-to-sequence transformer combining bidirectional encoding and autoregressive decoding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Gap-sentence generation (GSG) pretraining for abstractive summarization.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Text-to-text transfer transformer reformulating summarization as a text-generation task.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75D3C-840A-6F03-12AF-D158DE81415A}"/>
              </a:ext>
            </a:extLst>
          </p:cNvPr>
          <p:cNvSpPr txBox="1"/>
          <p:nvPr/>
        </p:nvSpPr>
        <p:spPr>
          <a:xfrm>
            <a:off x="883227" y="4942986"/>
            <a:ext cx="10266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Decoding Strategy: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Beam Search (width = 5), Length Penalty = 1.2, No Repeat N-Gram Size = 3 to ensure fluent and non-redundant summaries.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AD76D54-8D64-CFC4-C434-7C6B08E5B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2AE5487-5B5D-6CD4-4733-E6F3724F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5334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F071760-566A-74AF-A633-0ABCD6D4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70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6868D7C-721C-3A1D-BA61-AA6CCE074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BCBFEE-F12E-CDA3-F634-EBAF19D5D317}"/>
              </a:ext>
            </a:extLst>
          </p:cNvPr>
          <p:cNvSpPr txBox="1"/>
          <p:nvPr/>
        </p:nvSpPr>
        <p:spPr>
          <a:xfrm>
            <a:off x="3989200" y="707363"/>
            <a:ext cx="413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74BC4-7CF3-732E-3EB2-2DAC485CA197}"/>
              </a:ext>
            </a:extLst>
          </p:cNvPr>
          <p:cNvSpPr txBox="1"/>
          <p:nvPr/>
        </p:nvSpPr>
        <p:spPr>
          <a:xfrm>
            <a:off x="768927" y="1643343"/>
            <a:ext cx="10390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Transformers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Colab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GPU acceleration and efficient fine-tuning of summarization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895B26-25C4-DC88-7F1F-86AFC127FF41}"/>
              </a:ext>
            </a:extLst>
          </p:cNvPr>
          <p:cNvSpPr txBox="1"/>
          <p:nvPr/>
        </p:nvSpPr>
        <p:spPr>
          <a:xfrm>
            <a:off x="768927" y="2702434"/>
            <a:ext cx="9798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training, and evaluation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executed in modular stages for better scalability and debugging.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01344-6316-8260-B0C0-CA0B8105E377}"/>
              </a:ext>
            </a:extLst>
          </p:cNvPr>
          <p:cNvSpPr txBox="1"/>
          <p:nvPr/>
        </p:nvSpPr>
        <p:spPr>
          <a:xfrm>
            <a:off x="768927" y="3678382"/>
            <a:ext cx="9455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summarization system dynamically selected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based on the input document’s token length.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AA68D-BFEE-E9DC-5829-042A437894A8}"/>
              </a:ext>
            </a:extLst>
          </p:cNvPr>
          <p:cNvSpPr txBox="1"/>
          <p:nvPr/>
        </p:nvSpPr>
        <p:spPr>
          <a:xfrm>
            <a:off x="768927" y="4752992"/>
            <a:ext cx="100791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scripts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implemented to compare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 for lexical and semantic accuracy.</a:t>
            </a:r>
          </a:p>
          <a:p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59FC653-1337-E1FC-9D72-868146A6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2CB39AA-39F0-69B8-8C8A-14C969FAA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E190651-87EA-09AA-B462-A46BD08C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52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97EAB-AF6C-939F-D1A3-618F458BB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7DF6BC-86C0-9D05-429C-0D578B6F3090}"/>
              </a:ext>
            </a:extLst>
          </p:cNvPr>
          <p:cNvSpPr txBox="1"/>
          <p:nvPr/>
        </p:nvSpPr>
        <p:spPr>
          <a:xfrm>
            <a:off x="218209" y="810491"/>
            <a:ext cx="4312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474F1-6D68-BDA4-0A7F-64C528D6DCC9}"/>
              </a:ext>
            </a:extLst>
          </p:cNvPr>
          <p:cNvSpPr txBox="1"/>
          <p:nvPr/>
        </p:nvSpPr>
        <p:spPr>
          <a:xfrm>
            <a:off x="1870363" y="1426448"/>
            <a:ext cx="89777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Google Colab Environment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&amp; Frameworks: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Transformers, PyTorch, NLTK, NumPy, Pandas, 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Colab, Jupyter Notebook,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ROUGE-L, BERT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9A1D0-9727-80D3-4F2C-CE40598EB861}"/>
              </a:ext>
            </a:extLst>
          </p:cNvPr>
          <p:cNvSpPr txBox="1"/>
          <p:nvPr/>
        </p:nvSpPr>
        <p:spPr>
          <a:xfrm>
            <a:off x="301336" y="4011771"/>
            <a:ext cx="46031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5074A-4D94-BE80-BCE6-FB63DF678CE9}"/>
              </a:ext>
            </a:extLst>
          </p:cNvPr>
          <p:cNvSpPr txBox="1"/>
          <p:nvPr/>
        </p:nvSpPr>
        <p:spPr>
          <a:xfrm>
            <a:off x="1870363" y="4738255"/>
            <a:ext cx="92686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i5 or above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8 GB (16 GB recommended)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10 GB free space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55E2028-944E-6BF4-C60B-5263A2E6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8149D2D-6A07-2CBB-9866-C8A8819B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0F7FB18-78E8-970B-F846-5EE82A40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98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08A8264E-1DC7-3E01-A1BB-33159DA99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5417A-0B05-3F26-DF2F-023BB8B9821F}"/>
              </a:ext>
            </a:extLst>
          </p:cNvPr>
          <p:cNvSpPr txBox="1"/>
          <p:nvPr/>
        </p:nvSpPr>
        <p:spPr>
          <a:xfrm>
            <a:off x="581890" y="1028699"/>
            <a:ext cx="560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Solutions: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8DCB77-63A2-A20E-F501-C827B7438722}"/>
              </a:ext>
            </a:extLst>
          </p:cNvPr>
          <p:cNvSpPr txBox="1"/>
          <p:nvPr/>
        </p:nvSpPr>
        <p:spPr>
          <a:xfrm>
            <a:off x="1636339" y="1862864"/>
            <a:ext cx="95546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instability and memory overflow during fine-tuning large datasets.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accumulation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reduced batch sizes to stabilize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Semantic loss in generated summaries.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penalty tuning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 search decoding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fluency.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Inconsistent evaluation results due to token limit mismatch.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 token lengths and preprocessing across all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Managing multiple summarization models and ensuring smooth execution when users select one or more models for comparison.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user-controlled selection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allowing manual choice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models, enabling flexible testing and efficient performance comparison within a single framework.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A8DAE37-666E-EF6B-D76F-59401CF3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BCBFC1E-3AF5-D98F-4F8D-76196C6E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35725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4CB476B-6D84-2FF0-1267-6A299D54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3A678CA9-14C2-E6F6-6F03-D4DB587E5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50C286-210A-1F3F-ED66-6C835025E8AB}"/>
              </a:ext>
            </a:extLst>
          </p:cNvPr>
          <p:cNvSpPr txBox="1"/>
          <p:nvPr/>
        </p:nvSpPr>
        <p:spPr>
          <a:xfrm>
            <a:off x="4061937" y="717754"/>
            <a:ext cx="46872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C2E08-176E-25DC-C433-316F21DFE515}"/>
              </a:ext>
            </a:extLst>
          </p:cNvPr>
          <p:cNvSpPr txBox="1"/>
          <p:nvPr/>
        </p:nvSpPr>
        <p:spPr>
          <a:xfrm>
            <a:off x="550717" y="1620982"/>
            <a:ext cx="468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Methodology: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6A4738-C6DD-AC72-E5AE-8802752E0343}"/>
              </a:ext>
            </a:extLst>
          </p:cNvPr>
          <p:cNvSpPr txBox="1"/>
          <p:nvPr/>
        </p:nvSpPr>
        <p:spPr>
          <a:xfrm>
            <a:off x="2109355" y="2201044"/>
            <a:ext cx="90089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metrics (ROUGE-1, ROUGE-2, ROUGE-L)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metric (BERT Score F1)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tested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 BBC News articles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150 each from short, medium, and long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beam width, repetition penalty, and length normalization were tuned individually for each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were averaged to ensure fair and consistent comparison.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B26876F-B88B-7988-F02E-B90C3DC7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B2B1304-4985-A1DA-94B5-2A9FECD42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3736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34ACE88-B3D0-2E03-5E7C-F288DB2B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243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E31C79D1-6541-5A68-5344-32F3DAAC8A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C33FA-ECF7-80AE-998F-381FF1A38A96}"/>
              </a:ext>
            </a:extLst>
          </p:cNvPr>
          <p:cNvSpPr txBox="1"/>
          <p:nvPr/>
        </p:nvSpPr>
        <p:spPr>
          <a:xfrm>
            <a:off x="779317" y="976746"/>
            <a:ext cx="414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Comparison: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E69F63-8153-E659-0C29-052397C52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09080"/>
              </p:ext>
            </p:extLst>
          </p:nvPr>
        </p:nvGraphicFramePr>
        <p:xfrm>
          <a:off x="1423099" y="1697402"/>
          <a:ext cx="9612045" cy="4183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2409">
                  <a:extLst>
                    <a:ext uri="{9D8B030D-6E8A-4147-A177-3AD203B41FA5}">
                      <a16:colId xmlns:a16="http://schemas.microsoft.com/office/drawing/2014/main" val="1678724613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3787421641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965489209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432511909"/>
                    </a:ext>
                  </a:extLst>
                </a:gridCol>
                <a:gridCol w="1922409">
                  <a:extLst>
                    <a:ext uri="{9D8B030D-6E8A-4147-A177-3AD203B41FA5}">
                      <a16:colId xmlns:a16="http://schemas.microsoft.com/office/drawing/2014/main" val="2595795977"/>
                    </a:ext>
                  </a:extLst>
                </a:gridCol>
              </a:tblGrid>
              <a:tr h="10351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ROUGE-L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BERTScore(F1)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679331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43.8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858741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PEGASUS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45.6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027972"/>
                  </a:ext>
                </a:extLst>
              </a:tr>
              <a:tr h="104955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38.7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88.1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84300"/>
                  </a:ext>
                </a:extLst>
              </a:tr>
            </a:tbl>
          </a:graphicData>
        </a:graphic>
      </p:graphicFrame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455A650-FCA6-4005-E4D0-E9D924BAB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786B6-C554-4FE5-443A-ED4D0EDE0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22173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7D615EC-6F4C-934B-91CD-F893327E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94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CD3BFE5D-FF83-AA5C-0A44-7C4F5C475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352982-C977-57F5-E2FA-D10275179A7E}"/>
              </a:ext>
            </a:extLst>
          </p:cNvPr>
          <p:cNvSpPr txBox="1"/>
          <p:nvPr/>
        </p:nvSpPr>
        <p:spPr>
          <a:xfrm>
            <a:off x="613064" y="1049483"/>
            <a:ext cx="6556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B1E4E-F2E9-9DDE-E49D-D003FAE74DF1}"/>
              </a:ext>
            </a:extLst>
          </p:cNvPr>
          <p:cNvSpPr txBox="1"/>
          <p:nvPr/>
        </p:nvSpPr>
        <p:spPr>
          <a:xfrm>
            <a:off x="1901536" y="1911927"/>
            <a:ext cx="95076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 in both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strong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fidelity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concise summarization.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efficiently for medium-length inputs but sometimes generated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verbose outputs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reducing ROUGE-2 precision.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delivered lower ROUGE values due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token limitations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maintained good semantic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excelled in balancing brevity, coherence, and contextual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highlight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should depend on task requirements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raw metric values.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F645D2BD-435A-2C8E-D29E-E0DB3C0B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3D9AB23-1913-C97F-1B5C-A6E5CFDF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94909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A455D1-EF16-5066-3534-4B56A936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28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2627DE52-22EA-96B9-D436-7F996DBDC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89200" cy="7177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48351-FE76-A831-4BCC-2918A16460ED}"/>
              </a:ext>
            </a:extLst>
          </p:cNvPr>
          <p:cNvSpPr txBox="1"/>
          <p:nvPr/>
        </p:nvSpPr>
        <p:spPr>
          <a:xfrm>
            <a:off x="3221181" y="728144"/>
            <a:ext cx="6151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4EC72-6901-4DF8-DA06-1598D019B2A0}"/>
              </a:ext>
            </a:extLst>
          </p:cNvPr>
          <p:cNvSpPr txBox="1"/>
          <p:nvPr/>
        </p:nvSpPr>
        <p:spPr>
          <a:xfrm>
            <a:off x="664564" y="1371599"/>
            <a:ext cx="2660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23D779-A27F-BBB5-1526-FBC3BA0E4759}"/>
              </a:ext>
            </a:extLst>
          </p:cNvPr>
          <p:cNvSpPr txBox="1"/>
          <p:nvPr/>
        </p:nvSpPr>
        <p:spPr>
          <a:xfrm>
            <a:off x="2130137" y="1833264"/>
            <a:ext cx="8572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PEGASUS achieved the best summarization performance with concise and semantically accurate outputs.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BART provided contextually rich summaries but was slightly verbose on longer texts.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T5 maintained semantic consistency with stable results across varied input lengths.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framework proved effective in benchmarking transformer models for text summarization tasks.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64BFE6-D161-FE03-CA68-E7B83B0C11C7}"/>
              </a:ext>
            </a:extLst>
          </p:cNvPr>
          <p:cNvSpPr txBox="1"/>
          <p:nvPr/>
        </p:nvSpPr>
        <p:spPr>
          <a:xfrm>
            <a:off x="664563" y="4418587"/>
            <a:ext cx="2556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E040D5-0EC0-BDA3-8EE3-1C5465E40B3E}"/>
              </a:ext>
            </a:extLst>
          </p:cNvPr>
          <p:cNvSpPr txBox="1"/>
          <p:nvPr/>
        </p:nvSpPr>
        <p:spPr>
          <a:xfrm>
            <a:off x="2202873" y="4880252"/>
            <a:ext cx="90400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domain-specific datasets (e.g., legal or medical texts) to enhance adaptability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input-aware dynamic model routing for improved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model compression or distillation to reduce computational cost..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87452E8-67B9-409B-B699-E1F61080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BAE47A-C5C8-3E32-6906-2444F384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42955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A2D45738-15C5-6086-82F4-85CE17D5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72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3D7B6-F4CA-0046-CE1A-B3C7A63D5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8C498-656F-5272-7215-8CE07BE2F005}"/>
              </a:ext>
            </a:extLst>
          </p:cNvPr>
          <p:cNvSpPr txBox="1"/>
          <p:nvPr/>
        </p:nvSpPr>
        <p:spPr>
          <a:xfrm>
            <a:off x="4561609" y="719390"/>
            <a:ext cx="2618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98AD68D-EE1E-5B71-9C61-B13CC0D8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77FC1A-A20C-2C96-D0FE-F584CE17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274127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5413461-C16F-77EE-30A0-AFE20E54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23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859140-86DD-3369-4E2D-2BC9B0124BFC}"/>
              </a:ext>
            </a:extLst>
          </p:cNvPr>
          <p:cNvSpPr txBox="1"/>
          <p:nvPr/>
        </p:nvSpPr>
        <p:spPr>
          <a:xfrm>
            <a:off x="838200" y="1228397"/>
            <a:ext cx="1035627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Azam and F. Ahmed, “Extractive Summarization Using Enhanced Graph Models,” *International Journal of Artificial Intelligence*, vol. 34, no. 2, pp. 101–115,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Salam, R. Alfarraj, and M.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Alweshah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“MS-GATS: A Multi-Sentence Graph Attention Network for Arabic Text Summarization,” in *Proc. IATMSI*, 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Rautaray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K. Singh, and H. Saini, “CSO–HHO Optimized Extractive Summarization Technique,” *Elsevier Expert Systems with Applications*, vol. 213,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Satpute and P. Kulkarni, “Hybrid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TextRank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Word2Vec for Extractive Summarization,” *Springer AI Society*,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Khan et al., “Survey of Abstractive Summarization Using Transformers,” *ACM Computing Surveys*, vol. 56, no. 1, pp. 1–35, 2023.</a:t>
            </a:r>
          </a:p>
        </p:txBody>
      </p:sp>
    </p:spTree>
    <p:extLst>
      <p:ext uri="{BB962C8B-B14F-4D97-AF65-F5344CB8AC3E}">
        <p14:creationId xmlns:p14="http://schemas.microsoft.com/office/powerpoint/2010/main" val="414500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1C704-882B-14DF-C4B4-4D04BBA4D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6E87D-D779-DB5A-52F9-69B32A28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9C487-7136-CEA1-8CBB-F6E18D70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8F3EE-00BF-7678-8F57-FD2B7DF25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4B59B4-4CE1-1D02-7C6F-70B67A4FDFD7}"/>
              </a:ext>
            </a:extLst>
          </p:cNvPr>
          <p:cNvSpPr txBox="1"/>
          <p:nvPr/>
        </p:nvSpPr>
        <p:spPr>
          <a:xfrm>
            <a:off x="838200" y="1551361"/>
            <a:ext cx="104123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Awais and R. M. A. Nawab, “Abstractive Urdu Summarization Using LSTM-Transformer Hybrid,” *IATMSI Transactions*, vol. 9, no. 2, pp. 89–100,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I. Khan, M. Rahman, and M. Almahdawi, “Arabic Text Summarization via Enhanced Lexical Cohesion,” in *Proc. IEEE NLP*,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Naik et al., “EffSum: Efficient Transformer Summarization for Indian News,” *Elsevier Information Processing Management*, vol. 62,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M. Kadhim, H. Ali, and H. Shukur, “Feature-Based Sentence Scoring for Summarization,” *Springer Soft Computing*,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Elsaid, M. Alghamdi, and H. Alqarni, “Arabic Text Summarization: A Comprehensive Review,” *ACM Transactions on Asian and LowResource Language Information Processing*, vol. 21, no. 3, 2022.</a:t>
            </a:r>
          </a:p>
        </p:txBody>
      </p:sp>
    </p:spTree>
    <p:extLst>
      <p:ext uri="{BB962C8B-B14F-4D97-AF65-F5344CB8AC3E}">
        <p14:creationId xmlns:p14="http://schemas.microsoft.com/office/powerpoint/2010/main" val="4018868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FD6C5-049C-E37B-7842-886DB47A6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99182-D211-4F7C-449C-618ED7BD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No.2               Batch No.DB-5 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D112-3363-66A0-0497-22FFD9E87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2C8B7-D441-41F7-9F8A-3B05A8FD01D1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3E46BA-A982-0A50-3078-0B70EC9B7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5CE701-163F-ACE2-D900-5EBE7B64FEB3}"/>
              </a:ext>
            </a:extLst>
          </p:cNvPr>
          <p:cNvSpPr txBox="1"/>
          <p:nvPr/>
        </p:nvSpPr>
        <p:spPr>
          <a:xfrm>
            <a:off x="838200" y="1331089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Kumar and A. Joshi, “Legal Text Summarization Using Discourse and Abstraction,” *IATMSI Transactions*, vol. 10, no. 1, pp. 33–46,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A. Hegde, “Sentiment-Guided Medical Literature Summarization,” *IEEE Transactions on Computational Social Systems*, vol. 9, no. 2, pp. 200–211,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S. Pisano, “Rule-Based Summarization of Italian Tax Law,” in *Proc. ` Springer LegalTech*, 2023.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R. Singh ad R. Rathi, “Clinical Summarization Using Multi-Head Attention,” *Springer Health Informatics Journal*, vol. 38, no. 1, pp. 15–27,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Y. Zhang et al., “Multi-Modal Summarization of Educational Lectures,” *IEEE Transactions on Learning Technologies*, vol. 18, no. 2, pp. 123–134, 2025.</a:t>
            </a:r>
          </a:p>
        </p:txBody>
      </p:sp>
    </p:spTree>
    <p:extLst>
      <p:ext uri="{BB962C8B-B14F-4D97-AF65-F5344CB8AC3E}">
        <p14:creationId xmlns:p14="http://schemas.microsoft.com/office/powerpoint/2010/main" val="3254391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7ED6DC-8DAA-158E-2C98-104A4A8FF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4B59A3-6EB6-5579-2FF7-A82192282C33}"/>
              </a:ext>
            </a:extLst>
          </p:cNvPr>
          <p:cNvSpPr txBox="1"/>
          <p:nvPr/>
        </p:nvSpPr>
        <p:spPr>
          <a:xfrm>
            <a:off x="3987130" y="831273"/>
            <a:ext cx="4779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8B3D090-3E2D-689D-CF63-BEFD300D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65F37CB-D831-5F42-51A8-5BD7FA9E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98818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7029F9E-D9ED-813F-193D-6C054043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4C13D-2619-5848-8A74-628797509676}"/>
              </a:ext>
            </a:extLst>
          </p:cNvPr>
          <p:cNvSpPr txBox="1"/>
          <p:nvPr/>
        </p:nvSpPr>
        <p:spPr>
          <a:xfrm>
            <a:off x="1081548" y="2300748"/>
            <a:ext cx="101862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We appreciate your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Now we would like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to open floor for 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2432036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925BEE-ED02-C4BC-F2BC-4CC410215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87130" cy="7193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39DABD-CD54-6242-AB1C-176E10FC7411}"/>
              </a:ext>
            </a:extLst>
          </p:cNvPr>
          <p:cNvSpPr txBox="1"/>
          <p:nvPr/>
        </p:nvSpPr>
        <p:spPr>
          <a:xfrm>
            <a:off x="3834246" y="623455"/>
            <a:ext cx="4145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ACKNOWLEGEMENTS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CB3ED-F8EE-21E7-69A1-8DE76DCE002E}"/>
              </a:ext>
            </a:extLst>
          </p:cNvPr>
          <p:cNvSpPr txBox="1"/>
          <p:nvPr/>
        </p:nvSpPr>
        <p:spPr>
          <a:xfrm>
            <a:off x="959427" y="1220084"/>
            <a:ext cx="1027314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sincerely thank our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K.V NARASIMHA REDDY SIR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valuable guidance, encouragement, and continuous support throughout the project.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would  like to thank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 and faculty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essential resources and technical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extend our gratitude to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Narasaraopeta Engineering College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providing the required infrastructure and opportunity to present this work.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queries or further information, please reach out to:skbuddu786786@gmail.com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03D17B-AF56-17D9-9843-881BE08675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5/12/2025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6227673-EB96-8C85-D2BC-12B82DE7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05300" cy="365125"/>
          </a:xfrm>
        </p:spPr>
        <p:txBody>
          <a:bodyPr/>
          <a:lstStyle/>
          <a:p>
            <a:r>
              <a:rPr lang="en-US"/>
              <a:t>Review No.2               Batch No.DB-5            Department of CSE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86814C-E262-775B-CC55-0A1E17D9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B82C8B7-D441-41F7-9F8A-3B05A8FD01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3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3090</Words>
  <Application>Microsoft Office PowerPoint</Application>
  <PresentationFormat>Widescreen</PresentationFormat>
  <Paragraphs>377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SHAIK FAHEEM AHMED</dc:creator>
  <cp:lastModifiedBy>SHAIK FAHEEM AHMED</cp:lastModifiedBy>
  <cp:revision>7</cp:revision>
  <dcterms:created xsi:type="dcterms:W3CDTF">2025-11-08T12:38:47Z</dcterms:created>
  <dcterms:modified xsi:type="dcterms:W3CDTF">2026-02-06T04:53:49Z</dcterms:modified>
</cp:coreProperties>
</file>